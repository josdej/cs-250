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725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Scrum-Agile Methodology: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Case for Organizational Adoption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8092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DBB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Lessons Learned from the SNHU Travel Development Project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ADBB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Jose De Jesus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ADBB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Professor: Mason Judy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ADBB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Date: 06/21/2026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91E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ChadaTech | CS 250 Final Project Presentation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Scrum-Agile Team Roles &amp; Their Importance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7091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371600" y="12801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Product Owner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Owns the product backlog; prioritizes features based on client value and business needs. Acts as the bridge between stakeholders and the dev team.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54680" y="11430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7091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60520" y="12801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605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Scrum Master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91840" y="242316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Facilitates Scrum ceremonies, removes impediments, and coaches the team on Agile principles. Protects team focus during sprints.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0" y="11430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7091E6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949440" y="12801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9494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8076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Development Team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80760" y="242316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Cross-functional group of designers, engineers &amp; QA testers who self-organize to deliver a "Done" product increment each sprint.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88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(Schwaber &amp; Sutherland, 2020)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SDLC Phases in an Agile Approach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Planning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DBB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Sprint planning &amp; backlog grooming define scope each iteration.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154680" y="1051560"/>
            <a:ext cx="2743200" cy="1508760"/>
          </a:xfrm>
          <a:prstGeom prst="roundRect">
            <a:avLst>
              <a:gd name="adj" fmla="val 5281"/>
            </a:avLst>
          </a:prstGeom>
          <a:solidFill>
            <a:srgbClr val="3D52A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4612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46120" y="15544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DBB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stories &amp; acceptance criteria capture requirements continuously.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89320" y="10515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8076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80760" y="15544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DBB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Architecture and UI decisions made per-sprint, not upfront.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6517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3D52A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27614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31546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DBB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Features built in short sprints with daily collaboration.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154680" y="26517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46120" y="27614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46120" y="31546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DBB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QA integrated within every sprint — not a separate final phase.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89320" y="26517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3D52A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80760" y="27614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Deployment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80760" y="31546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DBB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Potentially shippable increments delivered at each sprint end.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40" y="4462272"/>
            <a:ext cx="8503920" cy="384048"/>
          </a:xfrm>
          <a:prstGeom prst="rect">
            <a:avLst/>
          </a:prstGeom>
          <a:solidFill>
            <a:srgbClr val="D6D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insight: In Agile, ALL phases occur within each sprint — creating continuous, iterative delivery.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88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(Cohn, 2004; Schwaber &amp; Sutherland, 2020)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Waterfall vs. Agile: Key Differences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Waterfall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617720" y="100584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617720" y="1005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Agile (Scrum)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3931920" cy="530352"/>
          </a:xfrm>
          <a:prstGeom prst="rect">
            <a:avLst/>
          </a:prstGeom>
          <a:solidFill>
            <a:srgbClr val="F5EFE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Sequential phases; no overlap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17720" y="1600200"/>
            <a:ext cx="3931920" cy="530352"/>
          </a:xfrm>
          <a:prstGeom prst="rect">
            <a:avLst/>
          </a:prstGeom>
          <a:solidFill>
            <a:srgbClr val="EDF0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09160" y="160020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Iterative sprints; phases overlap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2185416"/>
            <a:ext cx="3931920" cy="530352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218541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Requirements fixed at project start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17720" y="2185416"/>
            <a:ext cx="3931920" cy="530352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09160" y="218541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Requirements evolve throughout project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2770632"/>
            <a:ext cx="3931920" cy="530352"/>
          </a:xfrm>
          <a:prstGeom prst="rect">
            <a:avLst/>
          </a:prstGeom>
          <a:solidFill>
            <a:srgbClr val="F5EFE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" y="277063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Testing occurs late in the cycle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17720" y="2770632"/>
            <a:ext cx="3931920" cy="530352"/>
          </a:xfrm>
          <a:prstGeom prst="rect">
            <a:avLst/>
          </a:prstGeom>
          <a:solidFill>
            <a:srgbClr val="EDF0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09160" y="2770632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Testing integrated into every sprint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3355848"/>
            <a:ext cx="3931920" cy="530352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1480" y="335584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 sees product at the end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17720" y="3355848"/>
            <a:ext cx="3931920" cy="530352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09160" y="335584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 reviews working software each sprint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3941064"/>
            <a:ext cx="3931920" cy="530352"/>
          </a:xfrm>
          <a:prstGeom prst="rect">
            <a:avLst/>
          </a:prstGeom>
          <a:solidFill>
            <a:srgbClr val="F5EFE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11480" y="394106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Change is costly and disruptive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617720" y="3941064"/>
            <a:ext cx="3931920" cy="530352"/>
          </a:xfrm>
          <a:prstGeom prst="rect">
            <a:avLst/>
          </a:prstGeom>
          <a:solidFill>
            <a:srgbClr val="EDF0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09160" y="394106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Change is expected and accommodated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SNHU Travel example: Mid-project pivot to mobile-first design was absorbed in 1 sprint under Agile; would have required full restart under Waterfall.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88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(Highsmith, 2010; Beck et al., 2001)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Choosing the Right Approach: Decision Factors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256263"/>
              </p:ext>
            </p:extLst>
          </p:nvPr>
        </p:nvGraphicFramePr>
        <p:xfrm>
          <a:off x="320040" y="1005840"/>
          <a:ext cx="8503920" cy="35661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Decision Factor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Choose Waterfall If...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Choose Agile If...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2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Requirements Clarity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Well-defined &amp; stable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364D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Evolving or unclear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Client Involvement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Limited availability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364D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Active collaboration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Team Size &amp; Structure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Large, siloed teams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364D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Small, cross-functional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Project Complexity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Low - well-understood domain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364D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High - novel or user-driven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Regulatory Requirements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C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Strict documentation needed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364D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Flexible documentation OK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E276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SNHU Travel aligned with Agile indicators: evolving requirements, active client collaboration, and a user-centric product.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88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(Larman, 2004; Beck et al., 2001)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References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-457200">
              <a:lnSpc>
                <a:spcPct val="200000"/>
              </a:lnSpc>
              <a:buNone/>
            </a:pPr>
            <a:r>
              <a:rPr lang="en-US" sz="1200" dirty="0">
                <a:solidFill>
                  <a:srgbClr val="ADBB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Beck, K., Beedle, M., van Bennekum, A., Cockburn, A., Cunningham, W., Fowler, M., Grenning, J., Highsmith, J., Hunt, A., Jeffries, R., Kern, J., Marick, B., Martin, R. C., Mellor, S., Schwaber, K., Sutherland, J., &amp; Thomas, D. (2001). Manifesto for agile software development. Agile Alliance. https://agilemanifesto.org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-457200">
              <a:lnSpc>
                <a:spcPct val="200000"/>
              </a:lnSpc>
              <a:buNone/>
            </a:pPr>
            <a:r>
              <a:rPr lang="en-US" sz="1200" dirty="0">
                <a:solidFill>
                  <a:srgbClr val="ADBB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Cohn, M. (2004). User stories applied: For agile software development. Addison-Wesley.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185416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-457200">
              <a:lnSpc>
                <a:spcPct val="200000"/>
              </a:lnSpc>
              <a:buNone/>
            </a:pPr>
            <a:r>
              <a:rPr lang="en-US" sz="1200" dirty="0">
                <a:solidFill>
                  <a:srgbClr val="ADBB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Highsmith, J. (2010). Agile project management: Creating innovative products (2nd ed.). Addison-Wesley.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58775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-457200">
              <a:lnSpc>
                <a:spcPct val="200000"/>
              </a:lnSpc>
              <a:buNone/>
            </a:pPr>
            <a:r>
              <a:rPr lang="en-US" sz="1200" dirty="0">
                <a:solidFill>
                  <a:srgbClr val="ADBB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Larman, C. (2004). Agile and iterative development: A manager's guide. Addison-Wesley.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-457200">
              <a:lnSpc>
                <a:spcPct val="200000"/>
              </a:lnSpc>
              <a:buNone/>
            </a:pPr>
            <a:r>
              <a:rPr lang="en-US" sz="1200" dirty="0">
                <a:solidFill>
                  <a:srgbClr val="ADBBD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Schwaber, K., &amp; Sutherland, J. (2020). The Scrum guide: The definitive guide to Scrum: The rules of the game. Scrum.org. https://scrumguides.org/scrum-guide.html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609</Words>
  <Application>Microsoft Office PowerPoint</Application>
  <PresentationFormat>On-screen Show (16:9)</PresentationFormat>
  <Paragraphs>81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Scrum-Agile: A Case for Organizational Adoption</dc:title>
  <dc:subject>PptxGenJS Presentation</dc:subject>
  <dc:creator>PptxGenJS</dc:creator>
  <cp:lastModifiedBy>Jose DeJesus</cp:lastModifiedBy>
  <cp:revision>3</cp:revision>
  <dcterms:created xsi:type="dcterms:W3CDTF">2026-06-21T23:36:42Z</dcterms:created>
  <dcterms:modified xsi:type="dcterms:W3CDTF">2026-06-22T00:27:43Z</dcterms:modified>
</cp:coreProperties>
</file>